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7" r:id="rId14"/>
    <p:sldId id="268" r:id="rId1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6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0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8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B8D"/>
          </a:solidFill>
        </p:spPr>
      </p:sp>
      <p:sp>
        <p:nvSpPr>
          <p:cNvPr id="3" name="Shape 1"/>
          <p:cNvSpPr/>
          <p:nvPr/>
        </p:nvSpPr>
        <p:spPr>
          <a:xfrm>
            <a:off x="7498080" y="-548640"/>
            <a:ext cx="2560320" cy="2560320"/>
          </a:xfrm>
          <a:prstGeom prst="ellipse">
            <a:avLst/>
          </a:prstGeom>
          <a:solidFill>
            <a:srgbClr val="1A3460"/>
          </a:solidFill>
          <a:ln w="12700">
            <a:solidFill>
              <a:srgbClr val="1A34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0" y="182880"/>
            <a:ext cx="1645920" cy="1645920"/>
          </a:xfrm>
          <a:prstGeom prst="ellipse">
            <a:avLst/>
          </a:prstGeom>
          <a:solidFill>
            <a:srgbClr val="009B8D">
              <a:alpha val="30000"/>
            </a:srgbClr>
          </a:solidFill>
          <a:ln w="12700">
            <a:solidFill>
              <a:srgbClr val="009B8D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60120"/>
            <a:ext cx="74980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Personalized Recipe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74980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00C4B3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Recommendation System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2651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CS-GY 6513 Big Data  |  Spring 2026  |  Prof. Amit Patel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035808"/>
            <a:ext cx="1463040" cy="36576"/>
          </a:xfrm>
          <a:prstGeom prst="rect">
            <a:avLst/>
          </a:prstGeom>
          <a:solidFill>
            <a:srgbClr val="009B8D"/>
          </a:solidFill>
        </p:spPr>
      </p:sp>
      <p:sp>
        <p:nvSpPr>
          <p:cNvPr id="9" name="Text 7"/>
          <p:cNvSpPr/>
          <p:nvPr/>
        </p:nvSpPr>
        <p:spPr>
          <a:xfrm>
            <a:off x="457200" y="315468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Team  Bias &amp; Variance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Sharvin Gavad (sg9469)   |   Mahima Mariah (mx2431)   |   Shashwat Shah (sns10089)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92608"/>
          </a:xfrm>
          <a:prstGeom prst="rect">
            <a:avLst/>
          </a:prstGeom>
          <a:solidFill>
            <a:srgbClr val="009B8D"/>
          </a:solidFill>
          <a:ln w="12700">
            <a:solidFill>
              <a:srgbClr val="009B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OVERVIEW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What We'll Cover Today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502920" cy="658368"/>
          </a:xfrm>
          <a:prstGeom prst="rect">
            <a:avLst/>
          </a:prstGeom>
          <a:solidFill>
            <a:srgbClr val="009B8D"/>
          </a:solidFill>
        </p:spPr>
      </p:sp>
      <p:sp>
        <p:nvSpPr>
          <p:cNvPr id="7" name="Text 5"/>
          <p:cNvSpPr/>
          <p:nvPr/>
        </p:nvSpPr>
        <p:spPr>
          <a:xfrm>
            <a:off x="457200" y="1417320"/>
            <a:ext cx="50292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1463040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Problem Statement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1755648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What we set out to solve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194560"/>
            <a:ext cx="502920" cy="658368"/>
          </a:xfrm>
          <a:prstGeom prst="rect">
            <a:avLst/>
          </a:prstGeom>
          <a:solidFill>
            <a:srgbClr val="009B8D"/>
          </a:solidFill>
        </p:spPr>
      </p:sp>
      <p:sp>
        <p:nvSpPr>
          <p:cNvPr id="12" name="Text 10"/>
          <p:cNvSpPr/>
          <p:nvPr/>
        </p:nvSpPr>
        <p:spPr>
          <a:xfrm>
            <a:off x="457200" y="2194560"/>
            <a:ext cx="50292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2240280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Dataset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51560" y="2532888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Food.com  1M+ interactions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971800"/>
            <a:ext cx="502920" cy="658368"/>
          </a:xfrm>
          <a:prstGeom prst="rect">
            <a:avLst/>
          </a:prstGeom>
          <a:solidFill>
            <a:srgbClr val="009B8D"/>
          </a:solidFill>
        </p:spPr>
      </p:sp>
      <p:sp>
        <p:nvSpPr>
          <p:cNvPr id="17" name="Text 15"/>
          <p:cNvSpPr/>
          <p:nvPr/>
        </p:nvSpPr>
        <p:spPr>
          <a:xfrm>
            <a:off x="457200" y="2971800"/>
            <a:ext cx="50292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3017520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System Architecture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51560" y="3310128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Dual-mode pipeline design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749040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749040"/>
            <a:ext cx="502920" cy="658368"/>
          </a:xfrm>
          <a:prstGeom prst="rect">
            <a:avLst/>
          </a:prstGeom>
          <a:solidFill>
            <a:srgbClr val="009B8D"/>
          </a:solidFill>
        </p:spPr>
      </p:sp>
      <p:sp>
        <p:nvSpPr>
          <p:cNvPr id="22" name="Text 20"/>
          <p:cNvSpPr/>
          <p:nvPr/>
        </p:nvSpPr>
        <p:spPr>
          <a:xfrm>
            <a:off x="457200" y="3749040"/>
            <a:ext cx="50292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51560" y="3794760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Implementation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51560" y="4087368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PySpark, ALS, feature engineering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937760" y="1417320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937760" y="1417320"/>
            <a:ext cx="502920" cy="658368"/>
          </a:xfrm>
          <a:prstGeom prst="rect">
            <a:avLst/>
          </a:prstGeom>
          <a:solidFill>
            <a:srgbClr val="009B8D"/>
          </a:solidFill>
        </p:spPr>
      </p:sp>
      <p:sp>
        <p:nvSpPr>
          <p:cNvPr id="27" name="Text 25"/>
          <p:cNvSpPr/>
          <p:nvPr/>
        </p:nvSpPr>
        <p:spPr>
          <a:xfrm>
            <a:off x="4937760" y="1417320"/>
            <a:ext cx="50292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532120" y="1463040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Results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532120" y="1755648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RMSE 0.6477 · MAE 0.4685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37760" y="2194560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937760" y="2194560"/>
            <a:ext cx="502920" cy="658368"/>
          </a:xfrm>
          <a:prstGeom prst="rect">
            <a:avLst/>
          </a:prstGeom>
          <a:solidFill>
            <a:srgbClr val="009B8D"/>
          </a:solidFill>
        </p:spPr>
      </p:sp>
      <p:sp>
        <p:nvSpPr>
          <p:cNvPr id="32" name="Text 30"/>
          <p:cNvSpPr/>
          <p:nvPr/>
        </p:nvSpPr>
        <p:spPr>
          <a:xfrm>
            <a:off x="4937760" y="2194560"/>
            <a:ext cx="50292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532120" y="2240280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Challenges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532120" y="2532888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What went wrong and how we fixed it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937760" y="2971800"/>
            <a:ext cx="420624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937760" y="2971800"/>
            <a:ext cx="502920" cy="658368"/>
          </a:xfrm>
          <a:prstGeom prst="rect">
            <a:avLst/>
          </a:prstGeom>
          <a:solidFill>
            <a:srgbClr val="009B8D"/>
          </a:solidFill>
        </p:spPr>
      </p:sp>
      <p:sp>
        <p:nvSpPr>
          <p:cNvPr id="37" name="Text 35"/>
          <p:cNvSpPr/>
          <p:nvPr/>
        </p:nvSpPr>
        <p:spPr>
          <a:xfrm>
            <a:off x="4937760" y="2971800"/>
            <a:ext cx="502920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07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532120" y="3017520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Future Work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532120" y="3310128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What comes next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92608"/>
          </a:xfrm>
          <a:prstGeom prst="rect">
            <a:avLst/>
          </a:prstGeom>
          <a:solidFill>
            <a:srgbClr val="009B8D"/>
          </a:solidFill>
          <a:ln w="12700">
            <a:solidFill>
              <a:srgbClr val="009B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PROBLEM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The Problem We Set Out to Solve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66344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508760"/>
            <a:ext cx="4389120" cy="30175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There are 230,000+ recipes on Food.com. Finding the right one is overwhelming.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Users leave thousands of ratings but those signals are never used to personalize results.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user-recipe matrix is 99.997% sparse, meaning most users have only rated a handful of recipes.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Our goal was to demonstrate an end-to-end big-data pipeline for recipe recommendation at this scale.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349240" y="1371600"/>
            <a:ext cx="3474720" cy="1508760"/>
          </a:xfrm>
          <a:prstGeom prst="rect">
            <a:avLst/>
          </a:prstGeom>
          <a:solidFill>
            <a:srgbClr val="0F2044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349240" y="1463040"/>
            <a:ext cx="347472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C4B3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230,637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5349240" y="210312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total recipes to discover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49240" y="3017520"/>
            <a:ext cx="3474720" cy="1508760"/>
          </a:xfrm>
          <a:prstGeom prst="rect">
            <a:avLst/>
          </a:prstGeom>
          <a:solidFill>
            <a:srgbClr val="1A3460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349240" y="3108960"/>
            <a:ext cx="347472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59E0B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99.997%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5349240" y="374904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matrix sparsity, the core challenge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92608"/>
          </a:xfrm>
          <a:prstGeom prst="rect">
            <a:avLst/>
          </a:prstGeom>
          <a:solidFill>
            <a:srgbClr val="009B8D"/>
          </a:solidFill>
          <a:ln w="12700">
            <a:solidFill>
              <a:srgbClr val="009B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DATASET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Food.com Recipes &amp; User Interactions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920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71600"/>
            <a:ext cx="1920240" cy="54864"/>
          </a:xfrm>
          <a:prstGeom prst="rect">
            <a:avLst/>
          </a:prstGeom>
          <a:solidFill>
            <a:srgbClr val="009B8D"/>
          </a:solidFill>
        </p:spPr>
      </p:sp>
      <p:sp>
        <p:nvSpPr>
          <p:cNvPr id="7" name="Text 5"/>
          <p:cNvSpPr/>
          <p:nvPr/>
        </p:nvSpPr>
        <p:spPr>
          <a:xfrm>
            <a:off x="502920" y="1463040"/>
            <a:ext cx="1828800" cy="546811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231,637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981505"/>
            <a:ext cx="1920240" cy="39959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Raw Recipe Records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514600" y="1371600"/>
            <a:ext cx="1920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371600"/>
            <a:ext cx="1920240" cy="54864"/>
          </a:xfrm>
          <a:prstGeom prst="rect">
            <a:avLst/>
          </a:prstGeom>
          <a:solidFill>
            <a:srgbClr val="1A3460"/>
          </a:solidFill>
        </p:spPr>
      </p:sp>
      <p:sp>
        <p:nvSpPr>
          <p:cNvPr id="11" name="Text 9"/>
          <p:cNvSpPr/>
          <p:nvPr/>
        </p:nvSpPr>
        <p:spPr>
          <a:xfrm>
            <a:off x="2560320" y="1463040"/>
            <a:ext cx="1828800" cy="546811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1,132,367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514600" y="1981505"/>
            <a:ext cx="1920240" cy="39959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Raw Interaction Records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0" y="1371600"/>
            <a:ext cx="1920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371600"/>
            <a:ext cx="1920240" cy="54864"/>
          </a:xfrm>
          <a:prstGeom prst="rect">
            <a:avLst/>
          </a:prstGeom>
          <a:solidFill>
            <a:srgbClr val="009B8D"/>
          </a:solidFill>
        </p:spPr>
      </p:sp>
      <p:sp>
        <p:nvSpPr>
          <p:cNvPr id="15" name="Text 13"/>
          <p:cNvSpPr/>
          <p:nvPr/>
        </p:nvSpPr>
        <p:spPr>
          <a:xfrm>
            <a:off x="4617720" y="1463040"/>
            <a:ext cx="1828800" cy="546811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196,098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572000" y="1981505"/>
            <a:ext cx="1920240" cy="39959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Unique Users (pre-filter)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629400" y="1371600"/>
            <a:ext cx="1920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371600"/>
            <a:ext cx="1920240" cy="54864"/>
          </a:xfrm>
          <a:prstGeom prst="rect">
            <a:avLst/>
          </a:prstGeom>
          <a:solidFill>
            <a:srgbClr val="1A3460"/>
          </a:solidFill>
        </p:spPr>
      </p:sp>
      <p:sp>
        <p:nvSpPr>
          <p:cNvPr id="19" name="Text 17"/>
          <p:cNvSpPr/>
          <p:nvPr/>
        </p:nvSpPr>
        <p:spPr>
          <a:xfrm>
            <a:off x="6675120" y="1463040"/>
            <a:ext cx="1828800" cy="546811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226,590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629400" y="1981505"/>
            <a:ext cx="1920240" cy="39959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Recipes with Ratings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2560320"/>
            <a:ext cx="1920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560320"/>
            <a:ext cx="1920240" cy="54864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23" name="Text 21"/>
          <p:cNvSpPr/>
          <p:nvPr/>
        </p:nvSpPr>
        <p:spPr>
          <a:xfrm>
            <a:off x="502920" y="2651760"/>
            <a:ext cx="1828800" cy="546811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586,159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457200" y="3170225"/>
            <a:ext cx="1920240" cy="39959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Filtered Ratings for ALS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514600" y="2560320"/>
            <a:ext cx="1920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514600" y="2560320"/>
            <a:ext cx="1920240" cy="54864"/>
          </a:xfrm>
          <a:prstGeom prst="rect">
            <a:avLst/>
          </a:prstGeom>
          <a:solidFill>
            <a:srgbClr val="009B8D"/>
          </a:solidFill>
        </p:spPr>
      </p:sp>
      <p:sp>
        <p:nvSpPr>
          <p:cNvPr id="27" name="Text 25"/>
          <p:cNvSpPr/>
          <p:nvPr/>
        </p:nvSpPr>
        <p:spPr>
          <a:xfrm>
            <a:off x="2560320" y="2651760"/>
            <a:ext cx="1828800" cy="546811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21,973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2514600" y="3170225"/>
            <a:ext cx="1920240" cy="39959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Unique Users (post-filter)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0" y="2560320"/>
            <a:ext cx="1920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72000" y="2560320"/>
            <a:ext cx="1920240" cy="54864"/>
          </a:xfrm>
          <a:prstGeom prst="rect">
            <a:avLst/>
          </a:prstGeom>
          <a:solidFill>
            <a:srgbClr val="1A3460"/>
          </a:solidFill>
        </p:spPr>
      </p:sp>
      <p:sp>
        <p:nvSpPr>
          <p:cNvPr id="31" name="Text 29"/>
          <p:cNvSpPr/>
          <p:nvPr/>
        </p:nvSpPr>
        <p:spPr>
          <a:xfrm>
            <a:off x="4617720" y="2651760"/>
            <a:ext cx="1828800" cy="546811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50,716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4572000" y="3170225"/>
            <a:ext cx="1920240" cy="39959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Unique Recipes (post-filter)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629400" y="2560320"/>
            <a:ext cx="1920240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629400" y="2560320"/>
            <a:ext cx="1920240" cy="54864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35" name="Text 33"/>
          <p:cNvSpPr/>
          <p:nvPr/>
        </p:nvSpPr>
        <p:spPr>
          <a:xfrm>
            <a:off x="6675120" y="2651760"/>
            <a:ext cx="1828800" cy="546811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99.997%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6629400" y="3170225"/>
            <a:ext cx="1920240" cy="39959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Matrix Sparsity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57200" y="3794760"/>
            <a:ext cx="8229600" cy="594360"/>
          </a:xfrm>
          <a:prstGeom prst="rect">
            <a:avLst/>
          </a:prstGeom>
          <a:solidFill>
            <a:srgbClr val="E8F4F2"/>
          </a:solidFill>
          <a:ln w="6350">
            <a:solidFill>
              <a:srgbClr val="009B8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3794760"/>
            <a:ext cx="79552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Source: Kaggle  |  shuyangli94/food-com-recipes-and-user-interactions   |   Files: RAW_recipes.csv · RAW_interactions.csv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92608"/>
          </a:xfrm>
          <a:prstGeom prst="rect">
            <a:avLst/>
          </a:prstGeom>
          <a:solidFill>
            <a:srgbClr val="009B8D"/>
          </a:solidFill>
          <a:ln w="12700">
            <a:solidFill>
              <a:srgbClr val="009B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ARCHITECTURE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Dual-Mode Pipeline Architecture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93192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25880"/>
            <a:ext cx="3931920" cy="384048"/>
          </a:xfrm>
          <a:prstGeom prst="rect">
            <a:avLst/>
          </a:prstGeom>
          <a:solidFill>
            <a:srgbClr val="009B8D"/>
          </a:solidFill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COLAB_DEMO Mode  (Live Demo)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3566160" cy="256032"/>
          </a:xfrm>
          <a:prstGeom prst="rect">
            <a:avLst/>
          </a:prstGeom>
          <a:solidFill>
            <a:srgbClr val="E8F4F2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28800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Kaggle API Download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2148840"/>
            <a:ext cx="3566160" cy="25603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148840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PySpark Local[*]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3566160" cy="256032"/>
          </a:xfrm>
          <a:prstGeom prst="rect">
            <a:avLst/>
          </a:prstGeom>
          <a:solidFill>
            <a:srgbClr val="E8F4F2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468880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EDA + Feature Engineering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2788920"/>
            <a:ext cx="3566160" cy="25603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88920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Sparse Filtering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108960"/>
            <a:ext cx="3566160" cy="256032"/>
          </a:xfrm>
          <a:prstGeom prst="rect">
            <a:avLst/>
          </a:prstGeom>
          <a:solidFill>
            <a:srgbClr val="E8F4F2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108960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Parquet (Local Storage)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429000"/>
            <a:ext cx="3566160" cy="25603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429000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ALS Training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" y="3749040"/>
            <a:ext cx="3566160" cy="256032"/>
          </a:xfrm>
          <a:prstGeom prst="rect">
            <a:avLst/>
          </a:prstGeom>
          <a:solidFill>
            <a:srgbClr val="E8F4F2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749040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RMSE / MAE Eval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069080"/>
            <a:ext cx="3566160" cy="25603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" y="4069080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Top-10 Recommendations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389120"/>
            <a:ext cx="3566160" cy="256032"/>
          </a:xfrm>
          <a:prstGeom prst="rect">
            <a:avLst/>
          </a:prstGeom>
          <a:solidFill>
            <a:srgbClr val="E8F4F2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389120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In-Memory Queue (Kafka sim.)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434840" y="2743200"/>
            <a:ext cx="457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4748B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vs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937760" y="1325880"/>
            <a:ext cx="374904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937760" y="1325880"/>
            <a:ext cx="3749040" cy="384048"/>
          </a:xfrm>
          <a:prstGeom prst="rect">
            <a:avLst/>
          </a:prstGeom>
          <a:solidFill>
            <a:srgbClr val="1A3460"/>
          </a:solidFill>
        </p:spPr>
      </p:sp>
      <p:sp>
        <p:nvSpPr>
          <p:cNvPr id="29" name="Text 27"/>
          <p:cNvSpPr/>
          <p:nvPr/>
        </p:nvSpPr>
        <p:spPr>
          <a:xfrm>
            <a:off x="4937760" y="1325880"/>
            <a:ext cx="3749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CLUSTER_MODE  (Production)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120640" y="1828800"/>
            <a:ext cx="3383280" cy="256032"/>
          </a:xfrm>
          <a:prstGeom prst="rect">
            <a:avLst/>
          </a:prstGeom>
          <a:solidFill>
            <a:srgbClr val="EEF2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66360" y="182880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Kafka Producer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120640" y="2148840"/>
            <a:ext cx="3383280" cy="25603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66360" y="214884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Kafka Topic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120640" y="2468880"/>
            <a:ext cx="3383280" cy="256032"/>
          </a:xfrm>
          <a:prstGeom prst="rect">
            <a:avLst/>
          </a:prstGeom>
          <a:solidFill>
            <a:srgbClr val="EEF2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66360" y="24688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Spark Structured Streaming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120640" y="2788920"/>
            <a:ext cx="3383280" cy="25603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66360" y="278892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HDFS Storage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5120640" y="3108960"/>
            <a:ext cx="3383280" cy="256032"/>
          </a:xfrm>
          <a:prstGeom prst="rect">
            <a:avLst/>
          </a:prstGeom>
          <a:solidFill>
            <a:srgbClr val="EEF2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166360" y="310896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ALS Training on Cluster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120640" y="3429000"/>
            <a:ext cx="3383280" cy="25603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166360" y="342900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HDFS Model Artifacts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120640" y="3749040"/>
            <a:ext cx="3383280" cy="256032"/>
          </a:xfrm>
          <a:prstGeom prst="rect">
            <a:avLst/>
          </a:prstGeom>
          <a:solidFill>
            <a:srgbClr val="EEF2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166360" y="374904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Metrics + Parquet Output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120640" y="4069080"/>
            <a:ext cx="3383280" cy="256032"/>
          </a:xfrm>
          <a:prstGeom prst="rect">
            <a:avLst/>
          </a:prstGeom>
          <a:solidFill>
            <a:srgbClr val="F0F4F8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66360" y="40690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(Full production pipeline)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120640" y="4389120"/>
            <a:ext cx="3383280" cy="256032"/>
          </a:xfrm>
          <a:prstGeom prst="rect">
            <a:avLst/>
          </a:prstGeom>
          <a:solidFill>
            <a:srgbClr val="EEF2FF"/>
          </a:solidFill>
          <a:ln w="381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166360" y="438912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Optional, not demoed live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92608"/>
          </a:xfrm>
          <a:prstGeom prst="rect">
            <a:avLst/>
          </a:prstGeom>
          <a:solidFill>
            <a:srgbClr val="009B8D"/>
          </a:solidFill>
          <a:ln w="12700">
            <a:solidFill>
              <a:srgbClr val="009B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IMPLEMENTATION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Data Pipeline &amp; Feature Engineering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1261872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371600"/>
            <a:ext cx="1261872" cy="54864"/>
          </a:xfrm>
          <a:prstGeom prst="rect">
            <a:avLst/>
          </a:prstGeom>
          <a:solidFill>
            <a:srgbClr val="009B8D"/>
          </a:solidFill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463040"/>
            <a:ext cx="457200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1408176"/>
            <a:ext cx="621792" cy="621792"/>
          </a:xfrm>
          <a:prstGeom prst="ellipse">
            <a:avLst/>
          </a:prstGeom>
          <a:solidFill>
            <a:srgbClr val="009B8D">
              <a:alpha val="18000"/>
            </a:srgbClr>
          </a:solidFill>
          <a:ln w="12700">
            <a:solidFill>
              <a:srgbClr val="009B8D">
                <a:alpha val="18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2057400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Ingest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" y="2304288"/>
            <a:ext cx="12618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multiLine CSV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parse fix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627632" y="1737360"/>
            <a:ext cx="1828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9B8D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1810512" y="1371600"/>
            <a:ext cx="1261872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810512" y="1371600"/>
            <a:ext cx="1261872" cy="54864"/>
          </a:xfrm>
          <a:prstGeom prst="rect">
            <a:avLst/>
          </a:prstGeom>
          <a:solidFill>
            <a:srgbClr val="009B8D"/>
          </a:solidFill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848" y="1463040"/>
            <a:ext cx="457200" cy="45720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2130552" y="1408176"/>
            <a:ext cx="621792" cy="621792"/>
          </a:xfrm>
          <a:prstGeom prst="ellipse">
            <a:avLst/>
          </a:prstGeom>
          <a:solidFill>
            <a:srgbClr val="009B8D">
              <a:alpha val="18000"/>
            </a:srgbClr>
          </a:solidFill>
          <a:ln w="12700">
            <a:solidFill>
              <a:srgbClr val="009B8D">
                <a:alpha val="18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810512" y="2057400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Validate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1810512" y="2304288"/>
            <a:ext cx="12618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Schema cast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drop nulls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3072384" y="1737360"/>
            <a:ext cx="1828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9B8D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3255264" y="1371600"/>
            <a:ext cx="1261872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3255264" y="1371600"/>
            <a:ext cx="1261872" cy="54864"/>
          </a:xfrm>
          <a:prstGeom prst="rect">
            <a:avLst/>
          </a:prstGeom>
          <a:solidFill>
            <a:srgbClr val="009B8D"/>
          </a:solidFill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1463040"/>
            <a:ext cx="457200" cy="45720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3575304" y="1408176"/>
            <a:ext cx="621792" cy="621792"/>
          </a:xfrm>
          <a:prstGeom prst="ellipse">
            <a:avLst/>
          </a:prstGeom>
          <a:solidFill>
            <a:srgbClr val="009B8D">
              <a:alpha val="18000"/>
            </a:srgbClr>
          </a:solidFill>
          <a:ln w="12700">
            <a:solidFill>
              <a:srgbClr val="009B8D">
                <a:alpha val="18000"/>
              </a:srgbClr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3255264" y="2057400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EDA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3255264" y="2304288"/>
            <a:ext cx="12618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Spark SQL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aggregations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4517136" y="1737360"/>
            <a:ext cx="1828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9B8D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1"/>
          <p:cNvSpPr/>
          <p:nvPr/>
        </p:nvSpPr>
        <p:spPr>
          <a:xfrm>
            <a:off x="4700016" y="1371600"/>
            <a:ext cx="1261872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4700016" y="1371600"/>
            <a:ext cx="1261872" cy="54864"/>
          </a:xfrm>
          <a:prstGeom prst="rect">
            <a:avLst/>
          </a:prstGeom>
          <a:solidFill>
            <a:srgbClr val="009B8D"/>
          </a:solidFill>
        </p:spPr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2352" y="1463040"/>
            <a:ext cx="457200" cy="457200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5020056" y="1408176"/>
            <a:ext cx="621792" cy="621792"/>
          </a:xfrm>
          <a:prstGeom prst="ellipse">
            <a:avLst/>
          </a:prstGeom>
          <a:solidFill>
            <a:srgbClr val="009B8D">
              <a:alpha val="18000"/>
            </a:srgbClr>
          </a:solidFill>
          <a:ln w="12700">
            <a:solidFill>
              <a:srgbClr val="009B8D">
                <a:alpha val="18000"/>
              </a:srgbClr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700016" y="2057400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Feature Eng.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4700016" y="2304288"/>
            <a:ext cx="12618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cook bucket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tag count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5961888" y="1737360"/>
            <a:ext cx="1828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9B8D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→</a:t>
            </a:r>
            <a:endParaRPr lang="en-US" sz="1800" dirty="0"/>
          </a:p>
        </p:txBody>
      </p:sp>
      <p:sp>
        <p:nvSpPr>
          <p:cNvPr id="33" name="Shape 27"/>
          <p:cNvSpPr/>
          <p:nvPr/>
        </p:nvSpPr>
        <p:spPr>
          <a:xfrm>
            <a:off x="6144768" y="1371600"/>
            <a:ext cx="1261872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6144768" y="1371600"/>
            <a:ext cx="1261872" cy="54864"/>
          </a:xfrm>
          <a:prstGeom prst="rect">
            <a:avLst/>
          </a:prstGeom>
          <a:solidFill>
            <a:srgbClr val="009B8D"/>
          </a:solidFill>
        </p:spPr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1463040"/>
            <a:ext cx="457200" cy="457200"/>
          </a:xfrm>
          <a:prstGeom prst="rect">
            <a:avLst/>
          </a:prstGeom>
        </p:spPr>
      </p:pic>
      <p:sp>
        <p:nvSpPr>
          <p:cNvPr id="36" name="Shape 29"/>
          <p:cNvSpPr/>
          <p:nvPr/>
        </p:nvSpPr>
        <p:spPr>
          <a:xfrm>
            <a:off x="6464808" y="1408176"/>
            <a:ext cx="621792" cy="621792"/>
          </a:xfrm>
          <a:prstGeom prst="ellipse">
            <a:avLst/>
          </a:prstGeom>
          <a:solidFill>
            <a:srgbClr val="009B8D">
              <a:alpha val="18000"/>
            </a:srgbClr>
          </a:solidFill>
          <a:ln w="12700">
            <a:solidFill>
              <a:srgbClr val="009B8D">
                <a:alpha val="18000"/>
              </a:srgbClr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6144768" y="2057400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Filter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6144768" y="2304288"/>
            <a:ext cx="12618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≥5 ratings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per user/item</a:t>
            </a:r>
            <a:endParaRPr lang="en-US" sz="900" dirty="0"/>
          </a:p>
        </p:txBody>
      </p:sp>
      <p:sp>
        <p:nvSpPr>
          <p:cNvPr id="39" name="Text 32"/>
          <p:cNvSpPr/>
          <p:nvPr/>
        </p:nvSpPr>
        <p:spPr>
          <a:xfrm>
            <a:off x="7406640" y="1737360"/>
            <a:ext cx="1828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9B8D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→</a:t>
            </a:r>
            <a:endParaRPr lang="en-US" sz="1800" dirty="0"/>
          </a:p>
        </p:txBody>
      </p:sp>
      <p:sp>
        <p:nvSpPr>
          <p:cNvPr id="40" name="Shape 33"/>
          <p:cNvSpPr/>
          <p:nvPr/>
        </p:nvSpPr>
        <p:spPr>
          <a:xfrm>
            <a:off x="7589520" y="1371600"/>
            <a:ext cx="1261872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1" name="Shape 34"/>
          <p:cNvSpPr/>
          <p:nvPr/>
        </p:nvSpPr>
        <p:spPr>
          <a:xfrm>
            <a:off x="7589520" y="1371600"/>
            <a:ext cx="1261872" cy="54864"/>
          </a:xfrm>
          <a:prstGeom prst="rect">
            <a:avLst/>
          </a:prstGeom>
          <a:solidFill>
            <a:srgbClr val="009B8D"/>
          </a:solidFill>
        </p:spPr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856" y="1463040"/>
            <a:ext cx="457200" cy="457200"/>
          </a:xfrm>
          <a:prstGeom prst="rect">
            <a:avLst/>
          </a:prstGeom>
        </p:spPr>
      </p:pic>
      <p:sp>
        <p:nvSpPr>
          <p:cNvPr id="43" name="Shape 35"/>
          <p:cNvSpPr/>
          <p:nvPr/>
        </p:nvSpPr>
        <p:spPr>
          <a:xfrm>
            <a:off x="7909560" y="1408176"/>
            <a:ext cx="621792" cy="621792"/>
          </a:xfrm>
          <a:prstGeom prst="ellipse">
            <a:avLst/>
          </a:prstGeom>
          <a:solidFill>
            <a:srgbClr val="009B8D">
              <a:alpha val="18000"/>
            </a:srgbClr>
          </a:solidFill>
          <a:ln w="12700">
            <a:solidFill>
              <a:srgbClr val="009B8D">
                <a:alpha val="18000"/>
              </a:srgbClr>
            </a:solidFill>
            <a:prstDash val="solid"/>
          </a:ln>
        </p:spPr>
      </p:sp>
      <p:sp>
        <p:nvSpPr>
          <p:cNvPr id="44" name="Text 36"/>
          <p:cNvSpPr/>
          <p:nvPr/>
        </p:nvSpPr>
        <p:spPr>
          <a:xfrm>
            <a:off x="7589520" y="2057400"/>
            <a:ext cx="12618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Parquet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7589520" y="2304288"/>
            <a:ext cx="12618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Write cached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output</a:t>
            </a:r>
            <a:endParaRPr lang="en-US" sz="900" dirty="0"/>
          </a:p>
        </p:txBody>
      </p:sp>
      <p:sp>
        <p:nvSpPr>
          <p:cNvPr id="46" name="Shape 38"/>
          <p:cNvSpPr/>
          <p:nvPr/>
        </p:nvSpPr>
        <p:spPr>
          <a:xfrm>
            <a:off x="457200" y="2971800"/>
            <a:ext cx="8229600" cy="1737360"/>
          </a:xfrm>
          <a:prstGeom prst="rect">
            <a:avLst/>
          </a:prstGeom>
          <a:solidFill>
            <a:srgbClr val="0F2044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7" name="Text 39"/>
          <p:cNvSpPr/>
          <p:nvPr/>
        </p:nvSpPr>
        <p:spPr>
          <a:xfrm>
            <a:off x="640080" y="3017520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4B3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Features Engineered from Recipe Metadata:</a:t>
            </a:r>
            <a:endParaRPr lang="en-US" sz="1200" dirty="0"/>
          </a:p>
        </p:txBody>
      </p:sp>
      <p:sp>
        <p:nvSpPr>
          <p:cNvPr id="48" name="Text 40"/>
          <p:cNvSpPr/>
          <p:nvPr/>
        </p:nvSpPr>
        <p:spPr>
          <a:xfrm>
            <a:off x="731520" y="3383280"/>
            <a:ext cx="2606040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cook_time_bucket  </a:t>
            </a:r>
            <a:r>
              <a:rPr lang="en-US" sz="10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quick / medium / long bucketing of minutes field</a:t>
            </a:r>
            <a:endParaRPr lang="en-US" sz="1050" dirty="0"/>
          </a:p>
        </p:txBody>
      </p:sp>
      <p:sp>
        <p:nvSpPr>
          <p:cNvPr id="49" name="Text 41"/>
          <p:cNvSpPr/>
          <p:nvPr/>
        </p:nvSpPr>
        <p:spPr>
          <a:xfrm>
            <a:off x="3474720" y="3383280"/>
            <a:ext cx="2606040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num_tags  </a:t>
            </a:r>
            <a:r>
              <a:rPr lang="en-US" sz="10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count of tags list entries per recipe</a:t>
            </a:r>
            <a:endParaRPr lang="en-US" sz="1050" dirty="0"/>
          </a:p>
        </p:txBody>
      </p:sp>
      <p:sp>
        <p:nvSpPr>
          <p:cNvPr id="50" name="Text 42"/>
          <p:cNvSpPr/>
          <p:nvPr/>
        </p:nvSpPr>
        <p:spPr>
          <a:xfrm>
            <a:off x="6217920" y="3383280"/>
            <a:ext cx="2606040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has_nutrition  </a:t>
            </a:r>
            <a:r>
              <a:rPr lang="en-US" sz="10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binary flag for presence of nutritional data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92608"/>
          </a:xfrm>
          <a:prstGeom prst="rect">
            <a:avLst/>
          </a:prstGeom>
          <a:solidFill>
            <a:srgbClr val="009B8D"/>
          </a:solidFill>
          <a:ln w="12700">
            <a:solidFill>
              <a:srgbClr val="009B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ALS Collaborative Filtering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438912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417320"/>
            <a:ext cx="411480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4114800" cy="2834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ALS (Alternating Least Squares) is a matrix factorization method built into Spark MLlib.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Decomposes the sparse user-recipe matrix into two low-rank factor matrices: one for users, one for recipes.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Learns 50-dimensional latent feature vectors representing user taste profiles and recipe characteristics.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Iterates 10 times, alternating between fixing user factors and solving for recipe factors.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coldStartStrategy='drop' ignores users/recipes not seen during training.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74920" y="1325880"/>
            <a:ext cx="3611880" cy="3429000"/>
          </a:xfrm>
          <a:prstGeom prst="rect">
            <a:avLst/>
          </a:prstGeom>
          <a:solidFill>
            <a:srgbClr val="0F2044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212080" y="1417320"/>
            <a:ext cx="333756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4B3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Hyperparameters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166360" y="1874520"/>
            <a:ext cx="3383280" cy="301752"/>
          </a:xfrm>
          <a:prstGeom prst="rect">
            <a:avLst/>
          </a:prstGeom>
          <a:solidFill>
            <a:srgbClr val="1A3460"/>
          </a:solidFill>
          <a:ln w="3810">
            <a:solidFill>
              <a:srgbClr val="1A34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57800" y="1874520"/>
            <a:ext cx="210312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0" y="1874520"/>
            <a:ext cx="11430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166360" y="2221992"/>
            <a:ext cx="3383280" cy="301752"/>
          </a:xfrm>
          <a:prstGeom prst="rect">
            <a:avLst/>
          </a:prstGeom>
          <a:solidFill>
            <a:srgbClr val="132952"/>
          </a:solidFill>
          <a:ln w="3810">
            <a:solidFill>
              <a:srgbClr val="1A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57800" y="2221992"/>
            <a:ext cx="210312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maxIter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0" y="2221992"/>
            <a:ext cx="11430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166360" y="2569464"/>
            <a:ext cx="3383280" cy="301752"/>
          </a:xfrm>
          <a:prstGeom prst="rect">
            <a:avLst/>
          </a:prstGeom>
          <a:solidFill>
            <a:srgbClr val="1A3460"/>
          </a:solidFill>
          <a:ln w="3810">
            <a:solidFill>
              <a:srgbClr val="1A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57800" y="2569464"/>
            <a:ext cx="210312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regParam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315200" y="2569464"/>
            <a:ext cx="11430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166360" y="2916936"/>
            <a:ext cx="3383280" cy="301752"/>
          </a:xfrm>
          <a:prstGeom prst="rect">
            <a:avLst/>
          </a:prstGeom>
          <a:solidFill>
            <a:srgbClr val="132952"/>
          </a:solidFill>
          <a:ln w="3810">
            <a:solidFill>
              <a:srgbClr val="1A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57800" y="2916936"/>
            <a:ext cx="210312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coldStartStrategy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0" y="2916936"/>
            <a:ext cx="11430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drop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166360" y="3264408"/>
            <a:ext cx="3383280" cy="301752"/>
          </a:xfrm>
          <a:prstGeom prst="rect">
            <a:avLst/>
          </a:prstGeom>
          <a:solidFill>
            <a:srgbClr val="1A3460"/>
          </a:solidFill>
          <a:ln w="3810">
            <a:solidFill>
              <a:srgbClr val="1A346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57800" y="3264408"/>
            <a:ext cx="210312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nonnegative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0" y="3264408"/>
            <a:ext cx="11430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True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166360" y="3611880"/>
            <a:ext cx="3383280" cy="301752"/>
          </a:xfrm>
          <a:prstGeom prst="rect">
            <a:avLst/>
          </a:prstGeom>
          <a:solidFill>
            <a:srgbClr val="132952"/>
          </a:solidFill>
          <a:ln w="3810">
            <a:solidFill>
              <a:srgbClr val="1A346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57800" y="3611880"/>
            <a:ext cx="210312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seed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315200" y="3611880"/>
            <a:ext cx="11430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166360" y="3959352"/>
            <a:ext cx="3383280" cy="301752"/>
          </a:xfrm>
          <a:prstGeom prst="rect">
            <a:avLst/>
          </a:prstGeom>
          <a:solidFill>
            <a:srgbClr val="1A3460"/>
          </a:solidFill>
          <a:ln w="3810">
            <a:solidFill>
              <a:srgbClr val="1A346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57800" y="3959352"/>
            <a:ext cx="210312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Train split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15200" y="3959352"/>
            <a:ext cx="11430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166360" y="4306824"/>
            <a:ext cx="3383280" cy="301752"/>
          </a:xfrm>
          <a:prstGeom prst="rect">
            <a:avLst/>
          </a:prstGeom>
          <a:solidFill>
            <a:srgbClr val="132952"/>
          </a:solidFill>
          <a:ln w="3810">
            <a:solidFill>
              <a:srgbClr val="1A346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57800" y="4306824"/>
            <a:ext cx="210312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 split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15200" y="4306824"/>
            <a:ext cx="11430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9B8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Results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Model Performance &amp; Scale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65960" cy="1463040"/>
          </a:xfrm>
          <a:prstGeom prst="rect">
            <a:avLst/>
          </a:prstGeom>
          <a:solidFill>
            <a:srgbClr val="1A3460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1965960" cy="64008"/>
          </a:xfrm>
          <a:prstGeom prst="rect">
            <a:avLst/>
          </a:prstGeom>
          <a:solidFill>
            <a:srgbClr val="009B8D"/>
          </a:solidFill>
        </p:spPr>
      </p:sp>
      <p:sp>
        <p:nvSpPr>
          <p:cNvPr id="6" name="Text 4"/>
          <p:cNvSpPr/>
          <p:nvPr/>
        </p:nvSpPr>
        <p:spPr>
          <a:xfrm>
            <a:off x="457200" y="1481328"/>
            <a:ext cx="19659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9B8D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0.6477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2148840"/>
            <a:ext cx="19659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RMSE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 Set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606040" y="1371600"/>
            <a:ext cx="1965960" cy="1463040"/>
          </a:xfrm>
          <a:prstGeom prst="rect">
            <a:avLst/>
          </a:prstGeom>
          <a:solidFill>
            <a:srgbClr val="1A3460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606040" y="1371600"/>
            <a:ext cx="1965960" cy="64008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0" name="Text 8"/>
          <p:cNvSpPr/>
          <p:nvPr/>
        </p:nvSpPr>
        <p:spPr>
          <a:xfrm>
            <a:off x="2606040" y="1481328"/>
            <a:ext cx="19659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9E0B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0.4685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606040" y="2148840"/>
            <a:ext cx="19659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 Set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4880" y="1371600"/>
            <a:ext cx="1965960" cy="1463040"/>
          </a:xfrm>
          <a:prstGeom prst="rect">
            <a:avLst/>
          </a:prstGeom>
          <a:solidFill>
            <a:srgbClr val="1A3460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1371600"/>
            <a:ext cx="1965960" cy="64008"/>
          </a:xfrm>
          <a:prstGeom prst="rect">
            <a:avLst/>
          </a:prstGeom>
          <a:solidFill>
            <a:srgbClr val="00C4B3"/>
          </a:solidFill>
        </p:spPr>
      </p:sp>
      <p:sp>
        <p:nvSpPr>
          <p:cNvPr id="14" name="Text 12"/>
          <p:cNvSpPr/>
          <p:nvPr/>
        </p:nvSpPr>
        <p:spPr>
          <a:xfrm>
            <a:off x="4754880" y="1481328"/>
            <a:ext cx="19659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4B3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218,950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754880" y="2148840"/>
            <a:ext cx="19659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Top-10 Recs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Generated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903720" y="1371600"/>
            <a:ext cx="1965960" cy="1463040"/>
          </a:xfrm>
          <a:prstGeom prst="rect">
            <a:avLst/>
          </a:prstGeom>
          <a:solidFill>
            <a:srgbClr val="1A3460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903720" y="1371600"/>
            <a:ext cx="1965960" cy="64008"/>
          </a:xfrm>
          <a:prstGeom prst="rect">
            <a:avLst/>
          </a:prstGeom>
          <a:solidFill>
            <a:srgbClr val="94A3B8"/>
          </a:solidFill>
        </p:spPr>
      </p:sp>
      <p:sp>
        <p:nvSpPr>
          <p:cNvPr id="18" name="Text 16"/>
          <p:cNvSpPr/>
          <p:nvPr/>
        </p:nvSpPr>
        <p:spPr>
          <a:xfrm>
            <a:off x="6903720" y="1481328"/>
            <a:ext cx="19659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94A3B8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116,800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903720" y="2148840"/>
            <a:ext cx="19659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Predictions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Evaluated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301752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4B3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Top-10 Recommendations  Sample User 37449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/>
        </p:nvGraphicFramePr>
        <p:xfrm>
          <a:off x="457200" y="3337560"/>
          <a:ext cx="82296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2011680"/>
                <a:gridCol w="1280160"/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Recipe Name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4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ALS Score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4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Cook Time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pineapple sweet and sour seitan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5.73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35 min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bbq turkey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5.60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225 min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almond crusted tilapia (caramelized)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5.46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55 min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biscuits with roasted pears &amp; almonds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5.46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55 min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homemade pancake mix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5.42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94A3B8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25 min</a:t>
                      </a:r>
                      <a:endParaRPr lang="en-US" sz="10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4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2" name="Text 19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i="1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ALS scores are used for ranking and may exceed the 1 to 5 rating scale. They are not predicted ratings.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92608"/>
          </a:xfrm>
          <a:prstGeom prst="rect">
            <a:avLst/>
          </a:prstGeom>
          <a:solidFill>
            <a:srgbClr val="009B8D"/>
          </a:solidFill>
          <a:ln w="12700">
            <a:solidFill>
              <a:srgbClr val="009B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STREAMING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Streaming Event Ingestion Demo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4114800" cy="3429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417320"/>
            <a:ext cx="3840480" cy="32461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notebook supports two modes for feedback ingestion.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COLAB_DEMO uses an in-memory Python queue that simulates the producer and consumer pattern without any external broker.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CLUSTER_MODE includes a real Kafka Structured Streaming path for deployment on an actual cluster.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 synthetic rating events were produced and consumed during the demo run.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Events are appended to the ratings dataset. Retraining is scheduled as a batch job, not done live.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54880" y="1325880"/>
            <a:ext cx="3931920" cy="3429000"/>
          </a:xfrm>
          <a:prstGeom prst="rect">
            <a:avLst/>
          </a:prstGeom>
          <a:solidFill>
            <a:srgbClr val="0D1117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46320" y="1417320"/>
            <a:ext cx="3749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7681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# Notebook Output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846320" y="1719072"/>
            <a:ext cx="3749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9C0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Produced: user=28649 recipe=44597 rating=3.0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846320" y="2020824"/>
            <a:ext cx="3749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9C0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Produced: user=87300 recipe=482874 rating=2.0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846320" y="2322576"/>
            <a:ext cx="3749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9C0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Produced: user=28649 recipe=22864 rating=1.0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846320" y="2624328"/>
            <a:ext cx="3749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9C0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Produced: user=352814 recipe=71109 rating=1.0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846320" y="2926080"/>
            <a:ext cx="3749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9C0FF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Produced: user=28649 recipe=12652 rating=2.0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846320" y="3227832"/>
            <a:ext cx="3749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E7681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...(10 events total)...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846320" y="3529584"/>
            <a:ext cx="3749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6D36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Consumed: 10 events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846320" y="3831336"/>
            <a:ext cx="3749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6D364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Original: 586,159  New: +10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46320" y="4133088"/>
            <a:ext cx="37490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2CC60"/>
                </a:solidFill>
                <a:latin typeface="Courier New" panose="02070309020205020404" pitchFamily="34" charset="0"/>
                <a:ea typeface="Courier New" panose="02070309020205020404" pitchFamily="34" charset="-122"/>
                <a:cs typeface="Courier New" panose="02070309020205020404" pitchFamily="34" charset="-120"/>
              </a:rPr>
              <a:t>Updated:  586,169 rows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92608"/>
          </a:xfrm>
          <a:prstGeom prst="rect">
            <a:avLst/>
          </a:prstGeom>
          <a:solidFill>
            <a:srgbClr val="009B8D"/>
          </a:solidFill>
          <a:ln w="12700">
            <a:solidFill>
              <a:srgbClr val="009B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CHALLENGES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Technical Challenges We Faced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20040" y="1325880"/>
            <a:ext cx="2697480" cy="16276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25880"/>
            <a:ext cx="2697480" cy="54864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7" name="Shape 5"/>
          <p:cNvSpPr/>
          <p:nvPr/>
        </p:nvSpPr>
        <p:spPr>
          <a:xfrm>
            <a:off x="411480" y="1435608"/>
            <a:ext cx="475488" cy="475488"/>
          </a:xfrm>
          <a:prstGeom prst="ellipse">
            <a:avLst/>
          </a:prstGeom>
          <a:solidFill>
            <a:srgbClr val="F59E0B"/>
          </a:solidFill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508760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60120" y="1417320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Multiline CSV Parsing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11480" y="1892808"/>
            <a:ext cx="2514600" cy="9875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RAW_recipes.csv has embedded commas and newlines inside quoted fields. Default parsing split records incorrectly. Fixed with multiLine=True and explicit quote/escape settings.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37560" y="1325880"/>
            <a:ext cx="2697480" cy="16276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37560" y="1325880"/>
            <a:ext cx="2697480" cy="54864"/>
          </a:xfrm>
          <a:prstGeom prst="rect">
            <a:avLst/>
          </a:prstGeom>
          <a:solidFill>
            <a:srgbClr val="009B8D"/>
          </a:solidFill>
        </p:spPr>
      </p:sp>
      <p:sp>
        <p:nvSpPr>
          <p:cNvPr id="13" name="Shape 10"/>
          <p:cNvSpPr/>
          <p:nvPr/>
        </p:nvSpPr>
        <p:spPr>
          <a:xfrm>
            <a:off x="3429000" y="1435608"/>
            <a:ext cx="475488" cy="475488"/>
          </a:xfrm>
          <a:prstGeom prst="ellipse">
            <a:avLst/>
          </a:prstGeom>
          <a:solidFill>
            <a:srgbClr val="009B8D"/>
          </a:solidFill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2152" y="1508760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977640" y="1417320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99.997% Matrix Sparsity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3429000" y="1892808"/>
            <a:ext cx="2514600" cy="9875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Extremely sparse data makes ALS unstable. We applied a filter to keep only users and recipes with at least 5 ratings, reducing rows from 1,071,520 to 586,159.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355080" y="1325880"/>
            <a:ext cx="2697480" cy="16276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355080" y="1325880"/>
            <a:ext cx="2697480" cy="54864"/>
          </a:xfrm>
          <a:prstGeom prst="rect">
            <a:avLst/>
          </a:prstGeom>
          <a:solidFill>
            <a:srgbClr val="1A3460"/>
          </a:solidFill>
        </p:spPr>
      </p:sp>
      <p:sp>
        <p:nvSpPr>
          <p:cNvPr id="19" name="Shape 15"/>
          <p:cNvSpPr/>
          <p:nvPr/>
        </p:nvSpPr>
        <p:spPr>
          <a:xfrm>
            <a:off x="6446520" y="1435608"/>
            <a:ext cx="475488" cy="475488"/>
          </a:xfrm>
          <a:prstGeom prst="ellipse">
            <a:avLst/>
          </a:prstGeom>
          <a:solidFill>
            <a:srgbClr val="1A3460"/>
          </a:solidFill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508760"/>
            <a:ext cx="329184" cy="32918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995160" y="1417320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Colab Memory &amp; Runtime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6446520" y="1892808"/>
            <a:ext cx="2514600" cy="9875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Large Spark jobs risk crashes in Colab. We used aggressive Parquet caching, selective DataFrame caching, and designed the notebook to run top-to-bottom without manual steps.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1828800" y="3108960"/>
            <a:ext cx="2697480" cy="16276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1828800" y="3108960"/>
            <a:ext cx="2697480" cy="54864"/>
          </a:xfrm>
          <a:prstGeom prst="rect">
            <a:avLst/>
          </a:prstGeom>
          <a:solidFill>
            <a:srgbClr val="009B8D"/>
          </a:solidFill>
        </p:spPr>
      </p:sp>
      <p:sp>
        <p:nvSpPr>
          <p:cNvPr id="25" name="Shape 20"/>
          <p:cNvSpPr/>
          <p:nvPr/>
        </p:nvSpPr>
        <p:spPr>
          <a:xfrm>
            <a:off x="1920240" y="3218688"/>
            <a:ext cx="475488" cy="475488"/>
          </a:xfrm>
          <a:prstGeom prst="ellipse">
            <a:avLst/>
          </a:prstGeom>
          <a:solidFill>
            <a:srgbClr val="009B8D"/>
          </a:solidFill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3392" y="3291840"/>
            <a:ext cx="329184" cy="32918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2468880" y="3200400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Kafka / HDFS in Colab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1920240" y="3675888"/>
            <a:ext cx="2514600" cy="9875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Colab is not a persistent Hadoop or Kafka cluster environment. We built a dual-mode design: an in-memory queue simulation for the demo and full Kafka and HDFS paths available for cluster deployment.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4846320" y="3108960"/>
            <a:ext cx="2697480" cy="16276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4846320" y="3108960"/>
            <a:ext cx="2697480" cy="54864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31" name="Shape 25"/>
          <p:cNvSpPr/>
          <p:nvPr/>
        </p:nvSpPr>
        <p:spPr>
          <a:xfrm>
            <a:off x="4937760" y="3218688"/>
            <a:ext cx="475488" cy="475488"/>
          </a:xfrm>
          <a:prstGeom prst="ellipse">
            <a:avLst/>
          </a:prstGeom>
          <a:solidFill>
            <a:srgbClr val="F59E0B"/>
          </a:solidFill>
        </p:spPr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912" y="3291840"/>
            <a:ext cx="329184" cy="329184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5486400" y="3200400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Credential Security</a:t>
            </a:r>
            <a:endParaRPr lang="en-US" sz="1100" dirty="0"/>
          </a:p>
        </p:txBody>
      </p:sp>
      <p:sp>
        <p:nvSpPr>
          <p:cNvPr id="34" name="Text 27"/>
          <p:cNvSpPr/>
          <p:nvPr/>
        </p:nvSpPr>
        <p:spPr>
          <a:xfrm>
            <a:off x="4937760" y="3675888"/>
            <a:ext cx="2514600" cy="9875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Hardcoded API keys in shared notebooks are a security risk. The notebook checks environment variables first, then prompts for kaggle.json upload. Nothing is ever printed.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56032"/>
            <a:ext cx="1645920" cy="292608"/>
          </a:xfrm>
          <a:prstGeom prst="rect">
            <a:avLst/>
          </a:prstGeom>
          <a:solidFill>
            <a:srgbClr val="009B8D"/>
          </a:solidFill>
          <a:ln w="12700">
            <a:solidFill>
              <a:srgbClr val="009B8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56032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REFLECTIONS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Lessons Learned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896112"/>
            <a:ext cx="82296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2044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&amp; Future Improvements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402336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417320"/>
            <a:ext cx="4023360" cy="365760"/>
          </a:xfrm>
          <a:prstGeom prst="rect">
            <a:avLst/>
          </a:prstGeom>
          <a:solidFill>
            <a:srgbClr val="1A3460"/>
          </a:solidFill>
        </p:spPr>
      </p:sp>
      <p:sp>
        <p:nvSpPr>
          <p:cNvPr id="8" name="Text 6"/>
          <p:cNvSpPr/>
          <p:nvPr/>
        </p:nvSpPr>
        <p:spPr>
          <a:xfrm>
            <a:off x="457200" y="141732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Lessons Learned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847088"/>
            <a:ext cx="3749040" cy="2834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Validate record counts right after loading. Silent data corruption is the worst kind.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Design for the demo environment from day one, not as an afterthought.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Sparsity is a design constraint, not just a number. It shapes every part of the pipeline.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Parquet caching cuts recomputation time dramatically in memory-constrained environments.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Being upfront about what is simulated vs live is more professional than hiding it.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417320"/>
            <a:ext cx="4023360" cy="33375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417320"/>
            <a:ext cx="4023360" cy="365760"/>
          </a:xfrm>
          <a:prstGeom prst="rect">
            <a:avLst/>
          </a:prstGeom>
          <a:solidFill>
            <a:srgbClr val="009B8D"/>
          </a:solidFill>
        </p:spPr>
      </p:sp>
      <p:sp>
        <p:nvSpPr>
          <p:cNvPr id="12" name="Text 10"/>
          <p:cNvSpPr/>
          <p:nvPr/>
        </p:nvSpPr>
        <p:spPr>
          <a:xfrm>
            <a:off x="4663440" y="141732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Future Improvements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1847088"/>
            <a:ext cx="3749040" cy="2834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Hybrid filtering: add content-based layer using cook_time_bucket, tags, nutrition.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Hyperparameter tuning: grid search over rank, regParam, maxIter to push RMSE lower.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Deploy CLUSTER_MODE on Google Dataproc or Amazon EMR to validate Kafka + HDFS paths.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Automated retraining with Apache Airflow triggered by new interaction batches.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20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FastAPI or Flask layer to serve recommendations to a real front-end application.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0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-731520"/>
            <a:ext cx="3200400" cy="3200400"/>
          </a:xfrm>
          <a:prstGeom prst="ellipse">
            <a:avLst/>
          </a:prstGeom>
          <a:solidFill>
            <a:srgbClr val="1A3460"/>
          </a:solidFill>
          <a:ln w="12700">
            <a:solidFill>
              <a:srgbClr val="1A346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3200400"/>
            <a:ext cx="2286000" cy="2286000"/>
          </a:xfrm>
          <a:prstGeom prst="ellipse">
            <a:avLst/>
          </a:prstGeom>
          <a:solidFill>
            <a:srgbClr val="009B8D">
              <a:alpha val="25000"/>
            </a:srgbClr>
          </a:solidFill>
          <a:ln w="12700">
            <a:solidFill>
              <a:srgbClr val="009B8D">
                <a:alpha val="2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9B8D"/>
          </a:solidFill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00C4B3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Questions welcome!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965960" cy="1417320"/>
          </a:xfrm>
          <a:prstGeom prst="rect">
            <a:avLst/>
          </a:prstGeom>
          <a:solidFill>
            <a:srgbClr val="1A3460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377440"/>
            <a:ext cx="1965960" cy="54864"/>
          </a:xfrm>
          <a:prstGeom prst="rect">
            <a:avLst/>
          </a:prstGeom>
          <a:solidFill>
            <a:srgbClr val="009B8D"/>
          </a:solidFill>
        </p:spPr>
      </p:sp>
      <p:sp>
        <p:nvSpPr>
          <p:cNvPr id="9" name="Text 7"/>
          <p:cNvSpPr/>
          <p:nvPr/>
        </p:nvSpPr>
        <p:spPr>
          <a:xfrm>
            <a:off x="457200" y="2487168"/>
            <a:ext cx="19659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C4B3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1M+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7200" y="3063240"/>
            <a:ext cx="19659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user ratings processed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end-to-end in PySpark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606040" y="2377440"/>
            <a:ext cx="1965960" cy="1417320"/>
          </a:xfrm>
          <a:prstGeom prst="rect">
            <a:avLst/>
          </a:prstGeom>
          <a:solidFill>
            <a:srgbClr val="1A3460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06040" y="2377440"/>
            <a:ext cx="1965960" cy="54864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3" name="Text 11"/>
          <p:cNvSpPr/>
          <p:nvPr/>
        </p:nvSpPr>
        <p:spPr>
          <a:xfrm>
            <a:off x="2606040" y="2487168"/>
            <a:ext cx="19659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0.6477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606040" y="3063240"/>
            <a:ext cx="19659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RMSE on held-out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 set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0" y="2377440"/>
            <a:ext cx="1965960" cy="1417320"/>
          </a:xfrm>
          <a:prstGeom prst="rect">
            <a:avLst/>
          </a:prstGeom>
          <a:solidFill>
            <a:srgbClr val="1A3460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754880" y="2377440"/>
            <a:ext cx="1965960" cy="54864"/>
          </a:xfrm>
          <a:prstGeom prst="rect">
            <a:avLst/>
          </a:prstGeom>
          <a:solidFill>
            <a:srgbClr val="009B8D"/>
          </a:solidFill>
        </p:spPr>
      </p:sp>
      <p:sp>
        <p:nvSpPr>
          <p:cNvPr id="17" name="Text 15"/>
          <p:cNvSpPr/>
          <p:nvPr/>
        </p:nvSpPr>
        <p:spPr>
          <a:xfrm>
            <a:off x="4754880" y="2487168"/>
            <a:ext cx="19659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C4B3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218K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754880" y="3063240"/>
            <a:ext cx="19659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top-10 recommendations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generated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903720" y="2377440"/>
            <a:ext cx="1965960" cy="1417320"/>
          </a:xfrm>
          <a:prstGeom prst="rect">
            <a:avLst/>
          </a:prstGeom>
          <a:solidFill>
            <a:srgbClr val="1A3460"/>
          </a:solidFill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903720" y="2377440"/>
            <a:ext cx="1965960" cy="54864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21" name="Text 19"/>
          <p:cNvSpPr/>
          <p:nvPr/>
        </p:nvSpPr>
        <p:spPr>
          <a:xfrm>
            <a:off x="6903720" y="2487168"/>
            <a:ext cx="196596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  <a:latin typeface="Trebuchet MS" panose="020B0603020202020204" pitchFamily="34" charset="0"/>
                <a:ea typeface="Trebuchet MS" panose="020B0603020202020204" pitchFamily="34" charset="-122"/>
                <a:cs typeface="Trebuchet MS" panose="020B0603020202020204" pitchFamily="34" charset="-120"/>
              </a:rPr>
              <a:t>2 modes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903720" y="3063240"/>
            <a:ext cx="196596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Colab demo + cluster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production architecture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Team Bias and Variance  |  CS-GY 6513 Big Data  |  Spring 2026  |  Prof. Amit Patel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440740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Sharvin Gavad (sg9469)   •   Mahima Mariah (mx2431)   •   Shashwat Shah (sns10089)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6456</Words>
  <Application>WPS Presentation</Application>
  <PresentationFormat>On-screen Show (16:9)</PresentationFormat>
  <Paragraphs>423</Paragraphs>
  <Slides>12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7" baseType="lpstr">
      <vt:lpstr>Arial</vt:lpstr>
      <vt:lpstr>SimSun</vt:lpstr>
      <vt:lpstr>Wingdings</vt:lpstr>
      <vt:lpstr>Trebuchet MS</vt:lpstr>
      <vt:lpstr>Trebuchet MS</vt:lpstr>
      <vt:lpstr>Trebuchet MS</vt:lpstr>
      <vt:lpstr>Calibri</vt:lpstr>
      <vt:lpstr>Calibri</vt:lpstr>
      <vt:lpstr>Calibri</vt:lpstr>
      <vt:lpstr>Courier New</vt:lpstr>
      <vt:lpstr>Courier New</vt:lpstr>
      <vt:lpstr>Courier New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Personalized Recipe Recommendation System</dc:title>
  <dc:creator>Bias &amp; Variance</dc:creator>
  <dc:subject>PptxGenJS Presentation</dc:subject>
  <cp:lastModifiedBy>9711_aids_Sharvin_ Gavad</cp:lastModifiedBy>
  <cp:revision>2</cp:revision>
  <dcterms:created xsi:type="dcterms:W3CDTF">2026-05-04T07:25:00Z</dcterms:created>
  <dcterms:modified xsi:type="dcterms:W3CDTF">2026-05-04T18:41:22Z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F6BFAC9FE45A471280226650D6C0884E_12</vt:lpwstr>
  </property>
  <property fmtid="{D5CDD505-2E9C-101B-9397-08002B2CF9AE}" pid="3" name="KSOProductBuildVer">
    <vt:lpwstr>1033-12.1.0.25862</vt:lpwstr>
  </property>
</Properties>
</file>