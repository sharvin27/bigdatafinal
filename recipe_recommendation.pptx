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548640"/>
            <a:ext cx="2560320" cy="2560320"/>
          </a:xfrm>
          <a:prstGeom prst="ellipse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182880"/>
            <a:ext cx="1645920" cy="1645920"/>
          </a:xfrm>
          <a:prstGeom prst="ellipse">
            <a:avLst/>
          </a:prstGeom>
          <a:solidFill>
            <a:srgbClr val="009B8D">
              <a:alpha val="30000"/>
            </a:srgbClr>
          </a:solidFill>
          <a:ln w="12700">
            <a:solidFill>
              <a:srgbClr val="009B8D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Personalized Recipe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C4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 System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CS-GY 6513 Big Data  |  Spring 2026  |  Prof. Amit Patel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35808"/>
            <a:ext cx="1463040" cy="36576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Bias &amp; Variance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Sharvin Gavad (sg9469)   |   Mahima Mariah (mx2431)   |   Shashwat Shah (sns10089)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02920" cy="658368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7556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solve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94560"/>
            <a:ext cx="502920" cy="658368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945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2402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5328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Food.com  1M+ interactions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71800"/>
            <a:ext cx="502920" cy="658368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718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0175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3101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pipeline design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749040"/>
            <a:ext cx="502920" cy="658368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490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7947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0873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PySpark, ALS, feature engineering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141732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1417320"/>
            <a:ext cx="502920" cy="658368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4173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14630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17556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0.6477 · MAE 0.4685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219456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2194560"/>
            <a:ext cx="502920" cy="658368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21945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32120" y="22402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32120" y="25328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 and how we fixed it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297180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37760" y="2971800"/>
            <a:ext cx="502920" cy="658368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29718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32120" y="30175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32120" y="33101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We Set Out to Solve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6634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08760"/>
            <a:ext cx="43891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230,000+ recipes on Food.com. Finding the right one is overwhelming.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leave thousands of ratings but those signals are never used to personalize results.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user-recipe matrix is 99.997% sparse, meaning most users have only rated a handful of recipes.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 was to demonstrate an end-to-end big-data pipeline for recipe recommendation at this scale.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49240" y="1371600"/>
            <a:ext cx="3474720" cy="150876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49240" y="1463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4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230,637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34924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recipes to discover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49240" y="3017520"/>
            <a:ext cx="3474720" cy="1508760"/>
          </a:xfrm>
          <a:prstGeom prst="rect">
            <a:avLst/>
          </a:prstGeom>
          <a:solidFill>
            <a:srgbClr val="1A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49240" y="3108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99.997%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34924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sparsity, the core challenge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Food.com Recipes &amp; User Interactions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920240" cy="54864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63040"/>
            <a:ext cx="18288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231,637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981505"/>
            <a:ext cx="19202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Recipe Records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137160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371600"/>
            <a:ext cx="1920240" cy="54864"/>
          </a:xfrm>
          <a:prstGeom prst="rect">
            <a:avLst/>
          </a:prstGeom>
          <a:solidFill>
            <a:srgbClr val="1A3460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463040"/>
            <a:ext cx="18288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1,132,367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14600" y="1981505"/>
            <a:ext cx="19202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Interaction Records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371600"/>
            <a:ext cx="1920240" cy="54864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463040"/>
            <a:ext cx="18288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196,098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0" y="1981505"/>
            <a:ext cx="19202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 (pre-filter)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29400" y="137160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371600"/>
            <a:ext cx="1920240" cy="54864"/>
          </a:xfrm>
          <a:prstGeom prst="rect">
            <a:avLst/>
          </a:prstGeom>
          <a:solidFill>
            <a:srgbClr val="1A3460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463040"/>
            <a:ext cx="18288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226,590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629400" y="1981505"/>
            <a:ext cx="19202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with Ratings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56032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56032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651760"/>
            <a:ext cx="18288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586,159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57200" y="3170225"/>
            <a:ext cx="19202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Ratings for ALS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14600" y="256032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14600" y="2560320"/>
            <a:ext cx="1920240" cy="54864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0" y="2651760"/>
            <a:ext cx="18288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21,973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514600" y="3170225"/>
            <a:ext cx="19202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 (post-filter)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256032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2560320"/>
            <a:ext cx="1920240" cy="54864"/>
          </a:xfrm>
          <a:prstGeom prst="rect">
            <a:avLst/>
          </a:prstGeom>
          <a:solidFill>
            <a:srgbClr val="1A3460"/>
          </a:solidFill>
          <a:ln/>
        </p:spPr>
      </p:sp>
      <p:sp>
        <p:nvSpPr>
          <p:cNvPr id="31" name="Text 29"/>
          <p:cNvSpPr/>
          <p:nvPr/>
        </p:nvSpPr>
        <p:spPr>
          <a:xfrm>
            <a:off x="4617720" y="2651760"/>
            <a:ext cx="18288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50,716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572000" y="3170225"/>
            <a:ext cx="19202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Recipes (post-filter)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29400" y="2560320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629400" y="256032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2651760"/>
            <a:ext cx="18288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99.997%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629400" y="3170225"/>
            <a:ext cx="19202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Sparsity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solidFill>
            <a:srgbClr val="E8F4F2"/>
          </a:solidFill>
          <a:ln w="6350">
            <a:solidFill>
              <a:srgbClr val="009B8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79476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 |  shuyangli94/food-com-recipes-and-user-interactions   |   Files: RAW_recipes.csv · RAW_interactions.csv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Dual-Mode Pipeline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3931920" cy="384048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COLAB_DEMO Mode  (Live Demo)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566160" cy="256032"/>
          </a:xfrm>
          <a:prstGeom prst="rect">
            <a:avLst/>
          </a:prstGeom>
          <a:solidFill>
            <a:srgbClr val="E8F4F2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28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API Download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356616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48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Local[*]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3566160" cy="256032"/>
          </a:xfrm>
          <a:prstGeom prst="rect">
            <a:avLst/>
          </a:prstGeom>
          <a:solidFill>
            <a:srgbClr val="E8F4F2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68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Feature Engineering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788920"/>
            <a:ext cx="356616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788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Filtering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3566160" cy="256032"/>
          </a:xfrm>
          <a:prstGeom prst="rect">
            <a:avLst/>
          </a:prstGeom>
          <a:solidFill>
            <a:srgbClr val="E8F4F2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08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(Local Storage)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429000"/>
            <a:ext cx="356616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429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Training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3566160" cy="256032"/>
          </a:xfrm>
          <a:prstGeom prst="rect">
            <a:avLst/>
          </a:prstGeom>
          <a:solidFill>
            <a:srgbClr val="E8F4F2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749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/ MAE Eval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069080"/>
            <a:ext cx="356616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Recommendations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389120"/>
            <a:ext cx="3566160" cy="256032"/>
          </a:xfrm>
          <a:prstGeom prst="rect">
            <a:avLst/>
          </a:prstGeom>
          <a:solidFill>
            <a:srgbClr val="E8F4F2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389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Queue (Kafka sim.)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34840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937760" y="1325880"/>
            <a:ext cx="37490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37760" y="1325880"/>
            <a:ext cx="3749040" cy="384048"/>
          </a:xfrm>
          <a:prstGeom prst="rect">
            <a:avLst/>
          </a:prstGeom>
          <a:solidFill>
            <a:srgbClr val="1A3460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13258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CLUSTER_MODE  (Production)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120640" y="1828800"/>
            <a:ext cx="3383280" cy="256032"/>
          </a:xfrm>
          <a:prstGeom prst="rect">
            <a:avLst/>
          </a:prstGeom>
          <a:solidFill>
            <a:srgbClr val="EEF2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1828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Producer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20640" y="2148840"/>
            <a:ext cx="338328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2148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20640" y="2468880"/>
            <a:ext cx="3383280" cy="256032"/>
          </a:xfrm>
          <a:prstGeom prst="rect">
            <a:avLst/>
          </a:prstGeom>
          <a:solidFill>
            <a:srgbClr val="EEF2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2468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120640" y="2788920"/>
            <a:ext cx="338328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2788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Storage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120640" y="3108960"/>
            <a:ext cx="3383280" cy="256032"/>
          </a:xfrm>
          <a:prstGeom prst="rect">
            <a:avLst/>
          </a:prstGeom>
          <a:solidFill>
            <a:srgbClr val="EEF2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3108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Training on Cluster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120640" y="3429000"/>
            <a:ext cx="338328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3429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Model Artifacts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120640" y="3749040"/>
            <a:ext cx="3383280" cy="256032"/>
          </a:xfrm>
          <a:prstGeom prst="rect">
            <a:avLst/>
          </a:prstGeom>
          <a:solidFill>
            <a:srgbClr val="EEF2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3749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Parquet Output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120640" y="4069080"/>
            <a:ext cx="3383280" cy="256032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66360" y="4069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 production pipeline)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120640" y="4389120"/>
            <a:ext cx="3383280" cy="256032"/>
          </a:xfrm>
          <a:prstGeom prst="rect">
            <a:avLst/>
          </a:prstGeom>
          <a:solidFill>
            <a:srgbClr val="EEF2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66360" y="4389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not demoed live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 &amp; Feature Engineering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26187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1261872" cy="54864"/>
          </a:xfrm>
          <a:prstGeom prst="rect">
            <a:avLst/>
          </a:prstGeom>
          <a:solidFill>
            <a:srgbClr val="009B8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46304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408176"/>
            <a:ext cx="621792" cy="621792"/>
          </a:xfrm>
          <a:prstGeom prst="ellipse">
            <a:avLst/>
          </a:prstGeom>
          <a:solidFill>
            <a:srgbClr val="009B8D">
              <a:alpha val="18000"/>
            </a:srgbClr>
          </a:solidFill>
          <a:ln w="12700">
            <a:solidFill>
              <a:srgbClr val="009B8D">
                <a:alpha val="1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05740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23042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multiLine CSV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fix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27632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9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810512" y="1371600"/>
            <a:ext cx="126187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10512" y="1371600"/>
            <a:ext cx="1261872" cy="54864"/>
          </a:xfrm>
          <a:prstGeom prst="rect">
            <a:avLst/>
          </a:prstGeom>
          <a:solidFill>
            <a:srgbClr val="009B8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1463040"/>
            <a:ext cx="457200" cy="457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130552" y="1408176"/>
            <a:ext cx="621792" cy="621792"/>
          </a:xfrm>
          <a:prstGeom prst="ellipse">
            <a:avLst/>
          </a:prstGeom>
          <a:solidFill>
            <a:srgbClr val="009B8D">
              <a:alpha val="18000"/>
            </a:srgbClr>
          </a:solidFill>
          <a:ln w="12700">
            <a:solidFill>
              <a:srgbClr val="009B8D">
                <a:alpha val="18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810512" y="205740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810512" y="23042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cast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nulls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072384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9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3255264" y="1371600"/>
            <a:ext cx="126187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55264" y="1371600"/>
            <a:ext cx="1261872" cy="54864"/>
          </a:xfrm>
          <a:prstGeom prst="rect">
            <a:avLst/>
          </a:prstGeom>
          <a:solidFill>
            <a:srgbClr val="009B8D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463040"/>
            <a:ext cx="457200" cy="4572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575304" y="1408176"/>
            <a:ext cx="621792" cy="621792"/>
          </a:xfrm>
          <a:prstGeom prst="ellipse">
            <a:avLst/>
          </a:prstGeom>
          <a:solidFill>
            <a:srgbClr val="009B8D">
              <a:alpha val="18000"/>
            </a:srgbClr>
          </a:solidFill>
          <a:ln w="12700">
            <a:solidFill>
              <a:srgbClr val="009B8D">
                <a:alpha val="18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255264" y="205740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255264" y="23042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517136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9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4700016" y="1371600"/>
            <a:ext cx="126187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00016" y="1371600"/>
            <a:ext cx="1261872" cy="54864"/>
          </a:xfrm>
          <a:prstGeom prst="rect">
            <a:avLst/>
          </a:prstGeom>
          <a:solidFill>
            <a:srgbClr val="009B8D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1463040"/>
            <a:ext cx="457200" cy="45720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020056" y="1408176"/>
            <a:ext cx="621792" cy="621792"/>
          </a:xfrm>
          <a:prstGeom prst="ellipse">
            <a:avLst/>
          </a:prstGeom>
          <a:solidFill>
            <a:srgbClr val="009B8D">
              <a:alpha val="18000"/>
            </a:srgbClr>
          </a:solidFill>
          <a:ln w="12700">
            <a:solidFill>
              <a:srgbClr val="009B8D">
                <a:alpha val="18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700016" y="205740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700016" y="23042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bucket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count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5961888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9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6144768" y="1371600"/>
            <a:ext cx="126187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144768" y="1371600"/>
            <a:ext cx="1261872" cy="54864"/>
          </a:xfrm>
          <a:prstGeom prst="rect">
            <a:avLst/>
          </a:prstGeom>
          <a:solidFill>
            <a:srgbClr val="009B8D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1463040"/>
            <a:ext cx="457200" cy="457200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6464808" y="1408176"/>
            <a:ext cx="621792" cy="621792"/>
          </a:xfrm>
          <a:prstGeom prst="ellipse">
            <a:avLst/>
          </a:prstGeom>
          <a:solidFill>
            <a:srgbClr val="009B8D">
              <a:alpha val="18000"/>
            </a:srgbClr>
          </a:solidFill>
          <a:ln w="12700">
            <a:solidFill>
              <a:srgbClr val="009B8D">
                <a:alpha val="18000"/>
              </a:srgbClr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144768" y="205740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6144768" y="23042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 ratings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user/item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7406640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9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Shape 33"/>
          <p:cNvSpPr/>
          <p:nvPr/>
        </p:nvSpPr>
        <p:spPr>
          <a:xfrm>
            <a:off x="7589520" y="1371600"/>
            <a:ext cx="126187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7589520" y="1371600"/>
            <a:ext cx="1261872" cy="54864"/>
          </a:xfrm>
          <a:prstGeom prst="rect">
            <a:avLst/>
          </a:prstGeom>
          <a:solidFill>
            <a:srgbClr val="009B8D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1856" y="1463040"/>
            <a:ext cx="457200" cy="457200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7909560" y="1408176"/>
            <a:ext cx="621792" cy="621792"/>
          </a:xfrm>
          <a:prstGeom prst="ellipse">
            <a:avLst/>
          </a:prstGeom>
          <a:solidFill>
            <a:srgbClr val="009B8D">
              <a:alpha val="18000"/>
            </a:srgbClr>
          </a:solidFill>
          <a:ln w="12700">
            <a:solidFill>
              <a:srgbClr val="009B8D">
                <a:alpha val="18000"/>
              </a:srgbClr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7589520" y="205740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Parquet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7589520" y="23042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cached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457200" y="2971800"/>
            <a:ext cx="8229600" cy="173736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39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 Engineered from Recipe Metadata: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731520" y="33832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cook_time_bucket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/ medium / long bucketing of minutes field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3474720" y="33832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num_tags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tags list entries per recipe</a:t>
            </a:r>
            <a:endParaRPr lang="en-US" sz="1050" dirty="0"/>
          </a:p>
        </p:txBody>
      </p:sp>
      <p:sp>
        <p:nvSpPr>
          <p:cNvPr id="50" name="Text 42"/>
          <p:cNvSpPr/>
          <p:nvPr/>
        </p:nvSpPr>
        <p:spPr>
          <a:xfrm>
            <a:off x="6217920" y="33832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has_nutrition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flag for presence of nutritional data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ALS Collaborative Filtering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3891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173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4114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(Alternating Least Squares) is a matrix factorization method built into Spark MLlib.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the sparse user-recipe matrix into two low-rank factor matrices: one for users, one for recipes.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50-dimensional latent feature vectors representing user taste profiles and recipe characteristics.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10 times, alternating between fixing user factors and solving for recipe factors.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coldStartStrategy='drop' ignores users/recipes not seen during training.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74920" y="1325880"/>
            <a:ext cx="3611880" cy="342900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0" y="14173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Hyperparameters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66360" y="1874520"/>
            <a:ext cx="3383280" cy="301752"/>
          </a:xfrm>
          <a:prstGeom prst="rect">
            <a:avLst/>
          </a:prstGeom>
          <a:solidFill>
            <a:srgbClr val="1A3460"/>
          </a:solidFill>
          <a:ln w="3810">
            <a:solidFill>
              <a:srgbClr val="1A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87452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1874520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66360" y="2221992"/>
            <a:ext cx="3383280" cy="301752"/>
          </a:xfrm>
          <a:prstGeom prst="rect">
            <a:avLst/>
          </a:prstGeom>
          <a:solidFill>
            <a:srgbClr val="132952"/>
          </a:solidFill>
          <a:ln w="3810">
            <a:solidFill>
              <a:srgbClr val="1A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222199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2221992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66360" y="2569464"/>
            <a:ext cx="3383280" cy="301752"/>
          </a:xfrm>
          <a:prstGeom prst="rect">
            <a:avLst/>
          </a:prstGeom>
          <a:solidFill>
            <a:srgbClr val="1A3460"/>
          </a:solidFill>
          <a:ln w="3810">
            <a:solidFill>
              <a:srgbClr val="1A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256946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regParam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0" y="2569464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66360" y="2916936"/>
            <a:ext cx="3383280" cy="301752"/>
          </a:xfrm>
          <a:prstGeom prst="rect">
            <a:avLst/>
          </a:prstGeom>
          <a:solidFill>
            <a:srgbClr val="132952"/>
          </a:solidFill>
          <a:ln w="3810">
            <a:solidFill>
              <a:srgbClr val="1A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291693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coldStartStrategy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2916936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66360" y="3264408"/>
            <a:ext cx="3383280" cy="301752"/>
          </a:xfrm>
          <a:prstGeom prst="rect">
            <a:avLst/>
          </a:prstGeom>
          <a:solidFill>
            <a:srgbClr val="1A3460"/>
          </a:solidFill>
          <a:ln w="3810">
            <a:solidFill>
              <a:srgbClr val="1A34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326440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nonnegative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3264408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66360" y="3611880"/>
            <a:ext cx="3383280" cy="301752"/>
          </a:xfrm>
          <a:prstGeom prst="rect">
            <a:avLst/>
          </a:prstGeom>
          <a:solidFill>
            <a:srgbClr val="132952"/>
          </a:solidFill>
          <a:ln w="3810">
            <a:solidFill>
              <a:srgbClr val="1A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361188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3611880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66360" y="3959352"/>
            <a:ext cx="3383280" cy="301752"/>
          </a:xfrm>
          <a:prstGeom prst="rect">
            <a:avLst/>
          </a:prstGeom>
          <a:solidFill>
            <a:srgbClr val="1A3460"/>
          </a:solidFill>
          <a:ln w="3810">
            <a:solidFill>
              <a:srgbClr val="1A34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395935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split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0" y="3959352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66360" y="4306824"/>
            <a:ext cx="3383280" cy="301752"/>
          </a:xfrm>
          <a:prstGeom prst="rect">
            <a:avLst/>
          </a:prstGeom>
          <a:solidFill>
            <a:srgbClr val="132952"/>
          </a:solidFill>
          <a:ln w="3810">
            <a:solidFill>
              <a:srgbClr val="1A34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430682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4306824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 &amp;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65960" cy="1463040"/>
          </a:xfrm>
          <a:prstGeom prst="rect">
            <a:avLst/>
          </a:prstGeom>
          <a:solidFill>
            <a:srgbClr val="1A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1965960" cy="64008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8132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9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0.6477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965960" cy="1463040"/>
          </a:xfrm>
          <a:prstGeom prst="rect">
            <a:avLst/>
          </a:prstGeom>
          <a:solidFill>
            <a:srgbClr val="1A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371600"/>
            <a:ext cx="196596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48132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0.4685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2148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1965960" cy="1463040"/>
          </a:xfrm>
          <a:prstGeom prst="rect">
            <a:avLst/>
          </a:prstGeom>
          <a:solidFill>
            <a:srgbClr val="1A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71600"/>
            <a:ext cx="1965960" cy="64008"/>
          </a:xfrm>
          <a:prstGeom prst="rect">
            <a:avLst/>
          </a:prstGeom>
          <a:solidFill>
            <a:srgbClr val="00C4B3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8132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4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218,950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2148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Recs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03720" y="1371600"/>
            <a:ext cx="1965960" cy="1463040"/>
          </a:xfrm>
          <a:prstGeom prst="rect">
            <a:avLst/>
          </a:prstGeom>
          <a:solidFill>
            <a:srgbClr val="1A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371600"/>
            <a:ext cx="1965960" cy="640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48132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116,800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03720" y="2148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Top-10 Recommendations  Sample User 37449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82296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2011680"/>
                <a:gridCol w="1280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Recipe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4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4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pineapple sweet and sour seitan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bbq turkey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almond crusted tilapia (caramelized)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biscuits with roasted pears &amp; almonds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homemade pancake mix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scores are used for ranking and may exceed the 1 to 5 rating scale. They are not predicted ratings.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 Event Ingestion Demo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17320"/>
            <a:ext cx="38404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supports two modes for feedback ingestion.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COLAB_DEMO uses an in-memory Python queue that simulates the producer and consumer pattern without any external broker.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CLUSTER_MODE includes a real Kafka Structured Streaming path for deployment on an actual cluster.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synthetic rating events were produced and consumed during the demo run.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are appended to the ratings dataset. Retraining is scheduled as a batch job, not done live.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54880" y="1325880"/>
            <a:ext cx="3931920" cy="34290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Notebook Output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1719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Produced: user=28649 recipe=44597 rating=3.0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0" y="20208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Produced: user=87300 recipe=482874 rating=2.0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46320" y="23225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Produced: user=28649 recipe=22864 rating=1.0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46320" y="26243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Produced: user=352814 recipe=71109 rating=1.0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46320" y="2926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Produced: user=28649 recipe=12652 rating=2.0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6320" y="3227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...(10 events total)...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46320" y="3529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Consumed: 10 events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38313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Original: 586,159  New: +10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4133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Updated:  586,169 rows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Challenges We Faced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9748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435608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50876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417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Multiline CSV Parsing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1892808"/>
            <a:ext cx="2514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RAW_recipes.csv has embedded commas and newlines inside quoted fields. Default parsing split records incorrectly. Fixed with multiLine=True and explicit quote/escape settings.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37560" y="1325880"/>
            <a:ext cx="269748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325880"/>
            <a:ext cx="2697480" cy="54864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13" name="Shape 10"/>
          <p:cNvSpPr/>
          <p:nvPr/>
        </p:nvSpPr>
        <p:spPr>
          <a:xfrm>
            <a:off x="3429000" y="1435608"/>
            <a:ext cx="475488" cy="475488"/>
          </a:xfrm>
          <a:prstGeom prst="ellipse">
            <a:avLst/>
          </a:prstGeom>
          <a:solidFill>
            <a:srgbClr val="009B8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50876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77640" y="1417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99.997% Matrix Sparsity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429000" y="1892808"/>
            <a:ext cx="2514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sparse data makes ALS unstable. We applied a filter to keep only users and recipes with at least 5 ratings, reducing rows from 1,071,520 to 586,159.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355080" y="1325880"/>
            <a:ext cx="269748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55080" y="1325880"/>
            <a:ext cx="2697480" cy="54864"/>
          </a:xfrm>
          <a:prstGeom prst="rect">
            <a:avLst/>
          </a:prstGeom>
          <a:solidFill>
            <a:srgbClr val="1A3460"/>
          </a:solidFill>
          <a:ln/>
        </p:spPr>
      </p:sp>
      <p:sp>
        <p:nvSpPr>
          <p:cNvPr id="19" name="Shape 15"/>
          <p:cNvSpPr/>
          <p:nvPr/>
        </p:nvSpPr>
        <p:spPr>
          <a:xfrm>
            <a:off x="6446520" y="1435608"/>
            <a:ext cx="475488" cy="475488"/>
          </a:xfrm>
          <a:prstGeom prst="ellipse">
            <a:avLst/>
          </a:prstGeom>
          <a:solidFill>
            <a:srgbClr val="1A346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50876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95160" y="14173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Colab Memory &amp; Runtime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446520" y="1892808"/>
            <a:ext cx="2514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Spark jobs risk crashes in Colab. We used aggressive Parquet caching, selective DataFrame caching, and designed the notebook to run top-to-bottom without manual steps.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1828800" y="3108960"/>
            <a:ext cx="269748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828800" y="3108960"/>
            <a:ext cx="2697480" cy="54864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25" name="Shape 20"/>
          <p:cNvSpPr/>
          <p:nvPr/>
        </p:nvSpPr>
        <p:spPr>
          <a:xfrm>
            <a:off x="1920240" y="3218688"/>
            <a:ext cx="475488" cy="475488"/>
          </a:xfrm>
          <a:prstGeom prst="ellipse">
            <a:avLst/>
          </a:prstGeom>
          <a:solidFill>
            <a:srgbClr val="009B8D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392" y="3291840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468880" y="32004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Kafka / HDFS in Colab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920240" y="3675888"/>
            <a:ext cx="2514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is not a persistent Hadoop or Kafka cluster environment. We built a dual-mode design: an in-memory queue simulation for the demo and full Kafka and HDFS paths available for cluster deployment.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846320" y="3108960"/>
            <a:ext cx="269748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846320" y="310896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5"/>
          <p:cNvSpPr/>
          <p:nvPr/>
        </p:nvSpPr>
        <p:spPr>
          <a:xfrm>
            <a:off x="4937760" y="3218688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3291840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486400" y="32004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Credential Security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937760" y="3675888"/>
            <a:ext cx="2514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API keys in shared notebooks are a security risk. The notebook checks environment variables first, then prompts for kaggle.json upload. Nothing is ever printed.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FROM PROPOSAL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Changed and Why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200400" cy="105156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as an active live pipeline component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033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9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51960" y="1371600"/>
            <a:ext cx="3200400" cy="1051560"/>
          </a:xfrm>
          <a:prstGeom prst="rect">
            <a:avLst/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371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IMPLEMENTATION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43400" y="162763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queue simulation for demo; full Kafka code preserved in CLUSTER_MODE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1371600"/>
            <a:ext cx="1371600" cy="1051560"/>
          </a:xfrm>
          <a:prstGeom prst="rect">
            <a:avLst/>
          </a:prstGeom>
          <a:solidFill>
            <a:srgbClr val="E8F4F2"/>
          </a:solidFill>
          <a:ln w="6350">
            <a:solidFill>
              <a:srgbClr val="009B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371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543800" y="1627632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is not a persistent Kafka cluster environment. The dual-mode design keeps the full architecture available for cluster deployment.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587752"/>
            <a:ext cx="3200400" cy="105156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87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284378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as primary storage layer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0332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9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251960" y="2587752"/>
            <a:ext cx="3200400" cy="1051560"/>
          </a:xfrm>
          <a:prstGeom prst="rect">
            <a:avLst/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587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IMPLEMENTATION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43400" y="284378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Parquet storage in COLAB_DEMO; HDFS paths present in CLUSTER_MODE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98080" y="2587752"/>
            <a:ext cx="1371600" cy="1051560"/>
          </a:xfrm>
          <a:prstGeom prst="rect">
            <a:avLst/>
          </a:prstGeom>
          <a:solidFill>
            <a:srgbClr val="E8F4F2"/>
          </a:solidFill>
          <a:ln w="6350">
            <a:solidFill>
              <a:srgbClr val="009B8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2587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543800" y="2843784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is not a persistent Hadoop environment. The code paths are included for cluster deployment.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803904"/>
            <a:ext cx="3200400" cy="105156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03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8640" y="405993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recommendation relevance metrics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703320" y="4078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9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251960" y="3803904"/>
            <a:ext cx="3200400" cy="1051560"/>
          </a:xfrm>
          <a:prstGeom prst="rect">
            <a:avLst/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51960" y="3803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IMPLEMENTATION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343400" y="405993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(0.6477) and MAE (0.4685) from Spark MLlib's RegressionEvaluator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498080" y="3803904"/>
            <a:ext cx="1371600" cy="1051560"/>
          </a:xfrm>
          <a:prstGeom prst="rect">
            <a:avLst/>
          </a:prstGeom>
          <a:solidFill>
            <a:srgbClr val="E8F4F2"/>
          </a:solidFill>
          <a:ln w="6350">
            <a:solidFill>
              <a:srgbClr val="009B8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3803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543800" y="4059936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standard metrics for explicit-feedback ALS and map directly to our data.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Lessons Learned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Future Improvements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4023360" cy="365760"/>
          </a:xfrm>
          <a:prstGeom prst="rect">
            <a:avLst/>
          </a:prstGeom>
          <a:solidFill>
            <a:srgbClr val="1A34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Lessons Learned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47088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record counts right after loading. Silent data corruption is the worst kind.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the demo environment from day one, not as an afterthought.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is a design constraint, not just a number. It shapes every part of the pipeline.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caching cuts recomputation time dramatically in memory-constrained environments.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upfront about what is simulated vs live is more professional than hiding it.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0233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17320"/>
            <a:ext cx="4023360" cy="365760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417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Improvements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847088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filtering: add content-based layer using cook_time_bucket, tags, nutrition.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tuning: grid search over rank, regParam, maxIter to push RMSE lower.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CLUSTER_MODE on Google Dataproc or Amazon EMR to validate Kafka + HDFS paths.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retraining with Apache Airflow triggered by new interaction batches.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or Flask layer to serve recommendations to a real front-end application.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09B8D">
              <a:alpha val="25000"/>
            </a:srgbClr>
          </a:solidFill>
          <a:ln w="12700">
            <a:solidFill>
              <a:srgbClr val="009B8D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C4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welcome!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965960" cy="1417320"/>
          </a:xfrm>
          <a:prstGeom prst="rect">
            <a:avLst/>
          </a:prstGeom>
          <a:solidFill>
            <a:srgbClr val="1A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77440"/>
            <a:ext cx="1965960" cy="54864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8716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4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1M+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ratings processed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 PySpark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06040" y="2377440"/>
            <a:ext cx="1965960" cy="1417320"/>
          </a:xfrm>
          <a:prstGeom prst="rect">
            <a:avLst/>
          </a:prstGeom>
          <a:solidFill>
            <a:srgbClr val="1A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237744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248716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0.6477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06040" y="3063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on held-out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377440"/>
            <a:ext cx="1965960" cy="1417320"/>
          </a:xfrm>
          <a:prstGeom prst="rect">
            <a:avLst/>
          </a:prstGeom>
          <a:solidFill>
            <a:srgbClr val="1A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377440"/>
            <a:ext cx="1965960" cy="54864"/>
          </a:xfrm>
          <a:prstGeom prst="rect">
            <a:avLst/>
          </a:prstGeom>
          <a:solidFill>
            <a:srgbClr val="009B8D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48716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4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218K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54880" y="3063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recommendations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03720" y="2377440"/>
            <a:ext cx="1965960" cy="1417320"/>
          </a:xfrm>
          <a:prstGeom prst="rect">
            <a:avLst/>
          </a:prstGeom>
          <a:solidFill>
            <a:srgbClr val="1A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237744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248716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modes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903720" y="3063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demo + cluster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architecture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Bias and Variance  |  CS-GY 6513 Big Data  |  Spring 2026  |  Prof. Amit Patel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Sharvin Gavad (sg9469)   •   Mahima Mariah (mx2431)   •   Shashwat Shah (sns10089)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Personalized Recipe Recommendation System</dc:title>
  <dc:subject>PptxGenJS Presentation</dc:subject>
  <dc:creator>Bias &amp; Variance</dc:creator>
  <cp:lastModifiedBy>Bias &amp; Variance</cp:lastModifiedBy>
  <cp:revision>1</cp:revision>
  <dcterms:created xsi:type="dcterms:W3CDTF">2026-05-04T07:25:46Z</dcterms:created>
  <dcterms:modified xsi:type="dcterms:W3CDTF">2026-05-04T07:25:46Z</dcterms:modified>
</cp:coreProperties>
</file>